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5"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customXml" Target="../customXml/item3.xml"/><Relationship Id="rId27" Type="http://schemas.openxmlformats.org/officeDocument/2006/relationships/customXml" Target="../customXml/item2.xml"/><Relationship Id="rId26" Type="http://schemas.openxmlformats.org/officeDocument/2006/relationships/customXml" Target="../customXml/item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7669AF7-7BEB-44E4-9852-375E34362B5B}"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2BEA474-078D-4E9B-9B14-09A87B19DC46}"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907D986-8816-4272-A432-0437A28A9828}" type="datetime1">
              <a:rPr lang="en-US" smtClean="0"/>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2D6E202-B606-4609-B914-27C9371A1F6D}"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2D6E202-B606-4609-B914-27C9371A1F6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2D6E202-B606-4609-B914-27C9371A1F6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2D6E202-B606-4609-B914-27C9371A1F6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2D6E202-B606-4609-B914-27C9371A1F6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2D6E202-B606-4609-B914-27C9371A1F6D}"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stackoverflow.com/" TargetMode="External"/><Relationship Id="rId4" Type="http://schemas.openxmlformats.org/officeDocument/2006/relationships/hyperlink" Target="https://getbootstrap.com/docs" TargetMode="External"/><Relationship Id="rId3" Type="http://schemas.openxmlformats.org/officeDocument/2006/relationships/hyperlink" Target="https://www.w3schools.com/" TargetMode="External"/><Relationship Id="rId2" Type="http://schemas.openxmlformats.org/officeDocument/2006/relationships/hyperlink" Target="https://dev.mysql.com/doc/" TargetMode="External"/><Relationship Id="rId1" Type="http://schemas.openxmlformats.org/officeDocument/2006/relationships/hyperlink" Target="https://www.php.net/docs.php"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722130" y="2030415"/>
            <a:ext cx="6428811" cy="1021496"/>
          </a:xfrm>
        </p:spPr>
        <p:txBody>
          <a:bodyPr>
            <a:normAutofit/>
          </a:bodyPr>
          <a:lstStyle/>
          <a:p>
            <a:pPr algn="ctr"/>
            <a:r>
              <a:rPr lang="en-US" sz="3000" dirty="0">
                <a:latin typeface="Arial" panose="020B0604020202020204" pitchFamily="34" charset="0"/>
                <a:cs typeface="Arial" panose="020B0604020202020204" pitchFamily="34" charset="0"/>
              </a:rPr>
              <a:t>EVENT EASE</a:t>
            </a:r>
            <a:endParaRPr lang="en-US" sz="30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5763498" y="3496473"/>
            <a:ext cx="6269347" cy="1919589"/>
          </a:xfrm>
        </p:spPr>
        <p:txBody>
          <a:bodyPr>
            <a:normAutofit/>
          </a:bodyPr>
          <a:lstStyle/>
          <a:p>
            <a:pPr algn="l"/>
            <a:r>
              <a:rPr lang="en-US" sz="2400" dirty="0">
                <a:solidFill>
                  <a:schemeClr val="tx1">
                    <a:lumMod val="85000"/>
                    <a:lumOff val="15000"/>
                  </a:schemeClr>
                </a:solidFill>
                <a:latin typeface="Arial" panose="020B0604020202020204" pitchFamily="34" charset="0"/>
                <a:cs typeface="Arial" panose="020B0604020202020204" pitchFamily="34" charset="0"/>
              </a:rPr>
              <a:t>Prepared by:</a:t>
            </a:r>
            <a:endParaRPr lang="en-US" sz="2400" dirty="0">
              <a:solidFill>
                <a:schemeClr val="tx1">
                  <a:lumMod val="85000"/>
                  <a:lumOff val="15000"/>
                </a:schemeClr>
              </a:solidFill>
              <a:latin typeface="Arial" panose="020B0604020202020204" pitchFamily="34" charset="0"/>
              <a:cs typeface="Arial" panose="020B0604020202020204" pitchFamily="34" charset="0"/>
            </a:endParaRPr>
          </a:p>
          <a:p>
            <a:pPr algn="l">
              <a:spcBef>
                <a:spcPts val="0"/>
              </a:spcBef>
              <a:spcAft>
                <a:spcPts val="0"/>
              </a:spcAft>
            </a:pPr>
            <a:r>
              <a:rPr lang="en-US" sz="2000" dirty="0">
                <a:solidFill>
                  <a:schemeClr val="tx1">
                    <a:lumMod val="85000"/>
                    <a:lumOff val="15000"/>
                  </a:schemeClr>
                </a:solidFill>
                <a:latin typeface="Arial" panose="020B0604020202020204" pitchFamily="34" charset="0"/>
                <a:cs typeface="Arial" panose="020B0604020202020204" pitchFamily="34" charset="0"/>
              </a:rPr>
              <a:t>Mahir Kadivar : 92300938023</a:t>
            </a:r>
            <a:endParaRPr lang="en-US" sz="2000" dirty="0">
              <a:solidFill>
                <a:schemeClr val="tx1">
                  <a:lumMod val="85000"/>
                  <a:lumOff val="15000"/>
                </a:schemeClr>
              </a:solidFill>
              <a:latin typeface="Arial" panose="020B0604020202020204" pitchFamily="34" charset="0"/>
              <a:cs typeface="Arial" panose="020B0604020202020204" pitchFamily="34" charset="0"/>
            </a:endParaRPr>
          </a:p>
          <a:p>
            <a:pPr algn="l">
              <a:spcBef>
                <a:spcPts val="0"/>
              </a:spcBef>
              <a:spcAft>
                <a:spcPts val="0"/>
              </a:spcAft>
            </a:pPr>
            <a:r>
              <a:rPr lang="en-US" sz="2000" dirty="0">
                <a:solidFill>
                  <a:schemeClr val="tx1">
                    <a:lumMod val="85000"/>
                    <a:lumOff val="15000"/>
                  </a:schemeClr>
                </a:solidFill>
                <a:latin typeface="Arial" panose="020B0604020202020204" pitchFamily="34" charset="0"/>
                <a:cs typeface="Arial" panose="020B0604020202020204" pitchFamily="34" charset="0"/>
              </a:rPr>
              <a:t>Mohib </a:t>
            </a:r>
            <a:r>
              <a:rPr lang="en-US" sz="2000" dirty="0" err="1">
                <a:solidFill>
                  <a:schemeClr val="tx1">
                    <a:lumMod val="85000"/>
                    <a:lumOff val="15000"/>
                  </a:schemeClr>
                </a:solidFill>
                <a:latin typeface="Arial" panose="020B0604020202020204" pitchFamily="34" charset="0"/>
                <a:cs typeface="Arial" panose="020B0604020202020204" pitchFamily="34" charset="0"/>
              </a:rPr>
              <a:t>Khorajiya</a:t>
            </a:r>
            <a:r>
              <a:rPr lang="en-US" sz="2000" dirty="0">
                <a:solidFill>
                  <a:schemeClr val="tx1">
                    <a:lumMod val="85000"/>
                    <a:lumOff val="15000"/>
                  </a:schemeClr>
                </a:solidFill>
                <a:latin typeface="Arial" panose="020B0604020202020204" pitchFamily="34" charset="0"/>
                <a:cs typeface="Arial" panose="020B0604020202020204" pitchFamily="34" charset="0"/>
              </a:rPr>
              <a:t> : 92300938024</a:t>
            </a:r>
            <a:endParaRPr lang="en-US" sz="2000" dirty="0">
              <a:solidFill>
                <a:schemeClr val="tx1">
                  <a:lumMod val="85000"/>
                  <a:lumOff val="15000"/>
                </a:schemeClr>
              </a:solidFill>
              <a:latin typeface="Arial" panose="020B0604020202020204" pitchFamily="34" charset="0"/>
              <a:cs typeface="Arial" panose="020B0604020202020204" pitchFamily="34" charset="0"/>
            </a:endParaRPr>
          </a:p>
          <a:p>
            <a:pPr algn="l">
              <a:spcBef>
                <a:spcPts val="0"/>
              </a:spcBef>
              <a:spcAft>
                <a:spcPts val="0"/>
              </a:spcAft>
            </a:pPr>
            <a:r>
              <a:rPr lang="en-US" sz="2000" dirty="0">
                <a:solidFill>
                  <a:schemeClr val="tx1">
                    <a:lumMod val="85000"/>
                    <a:lumOff val="15000"/>
                  </a:schemeClr>
                </a:solidFill>
                <a:latin typeface="Arial" panose="020B0604020202020204" pitchFamily="34" charset="0"/>
                <a:cs typeface="Arial" panose="020B0604020202020204" pitchFamily="34" charset="0"/>
              </a:rPr>
              <a:t>Sarth Vaghela : 92300938025</a:t>
            </a:r>
            <a:endParaRPr lang="en-US" sz="2000" dirty="0">
              <a:solidFill>
                <a:schemeClr val="tx1">
                  <a:lumMod val="85000"/>
                  <a:lumOff val="15000"/>
                </a:schemeClr>
              </a:solidFill>
              <a:latin typeface="Arial" panose="020B0604020202020204" pitchFamily="34" charset="0"/>
              <a:cs typeface="Arial" panose="020B0604020202020204" pitchFamily="34" charset="0"/>
            </a:endParaRPr>
          </a:p>
          <a:p>
            <a:pPr algn="l">
              <a:spcBef>
                <a:spcPts val="0"/>
              </a:spcBef>
              <a:spcAft>
                <a:spcPts val="0"/>
              </a:spcAft>
            </a:pPr>
            <a:r>
              <a:rPr lang="en-US" sz="2000" dirty="0">
                <a:solidFill>
                  <a:schemeClr val="tx1">
                    <a:lumMod val="85000"/>
                    <a:lumOff val="15000"/>
                  </a:schemeClr>
                </a:solidFill>
                <a:latin typeface="Arial" panose="020B0604020202020204" pitchFamily="34" charset="0"/>
                <a:cs typeface="Arial" panose="020B0604020202020204" pitchFamily="34" charset="0"/>
              </a:rPr>
              <a:t>Sunera </a:t>
            </a:r>
            <a:r>
              <a:rPr lang="en-US" sz="2000" dirty="0" err="1">
                <a:solidFill>
                  <a:schemeClr val="tx1">
                    <a:lumMod val="85000"/>
                    <a:lumOff val="15000"/>
                  </a:schemeClr>
                </a:solidFill>
                <a:latin typeface="Arial" panose="020B0604020202020204" pitchFamily="34" charset="0"/>
                <a:cs typeface="Arial" panose="020B0604020202020204" pitchFamily="34" charset="0"/>
              </a:rPr>
              <a:t>Sherasiya</a:t>
            </a:r>
            <a:r>
              <a:rPr lang="en-US" sz="2000" dirty="0">
                <a:solidFill>
                  <a:schemeClr val="tx1">
                    <a:lumMod val="85000"/>
                    <a:lumOff val="15000"/>
                  </a:schemeClr>
                </a:solidFill>
                <a:latin typeface="Arial" panose="020B0604020202020204" pitchFamily="34" charset="0"/>
                <a:cs typeface="Arial" panose="020B0604020202020204" pitchFamily="34" charset="0"/>
              </a:rPr>
              <a:t> : 92300938028</a:t>
            </a:r>
            <a:endParaRPr lang="en-US" sz="2400" dirty="0">
              <a:solidFill>
                <a:schemeClr val="tx1">
                  <a:lumMod val="85000"/>
                  <a:lumOff val="15000"/>
                </a:schemeClr>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8821" y="192803"/>
            <a:ext cx="3740398" cy="1285122"/>
          </a:xfrm>
          <a:prstGeom prst="rect">
            <a:avLst/>
          </a:prstGeom>
          <a:noFill/>
          <a:ln>
            <a:noFill/>
          </a:ln>
        </p:spPr>
      </p:pic>
      <p:sp>
        <p:nvSpPr>
          <p:cNvPr id="11" name="TextBox 10"/>
          <p:cNvSpPr txBox="1"/>
          <p:nvPr/>
        </p:nvSpPr>
        <p:spPr>
          <a:xfrm>
            <a:off x="6499552" y="129044"/>
            <a:ext cx="5613627" cy="1456809"/>
          </a:xfrm>
          <a:prstGeom prst="rect">
            <a:avLst/>
          </a:prstGeom>
          <a:noFill/>
        </p:spPr>
        <p:txBody>
          <a:bodyPr wrap="square">
            <a:spAutoFit/>
          </a:bodyPr>
          <a:lstStyle/>
          <a:p>
            <a:pPr algn="r" rtl="0">
              <a:spcBef>
                <a:spcPts val="1000"/>
              </a:spcBef>
              <a:buNone/>
            </a:pPr>
            <a:br>
              <a:rPr lang="en-US" b="0" dirty="0">
                <a:effectLst/>
                <a:latin typeface="Arial" panose="020B0604020202020204" pitchFamily="34" charset="0"/>
                <a:cs typeface="Arial" panose="020B0604020202020204" pitchFamily="34" charset="0"/>
              </a:rPr>
            </a:br>
            <a:r>
              <a:rPr lang="en-US" sz="1800" b="1" i="0" u="none" strike="noStrike" dirty="0">
                <a:solidFill>
                  <a:srgbClr val="000000"/>
                </a:solidFill>
                <a:effectLst/>
                <a:latin typeface="Arial" panose="020B0604020202020204" pitchFamily="34" charset="0"/>
                <a:cs typeface="Arial" panose="020B0604020202020204" pitchFamily="34" charset="0"/>
              </a:rPr>
              <a:t>MARWADI UNIVERSITY </a:t>
            </a:r>
            <a:endParaRPr lang="en-US" b="0" dirty="0">
              <a:effectLst/>
              <a:latin typeface="Arial" panose="020B0604020202020204" pitchFamily="34" charset="0"/>
              <a:cs typeface="Arial" panose="020B0604020202020204" pitchFamily="34" charset="0"/>
            </a:endParaRPr>
          </a:p>
          <a:p>
            <a:pPr algn="r" rtl="0">
              <a:spcBef>
                <a:spcPts val="1000"/>
              </a:spcBef>
              <a:buNone/>
            </a:pPr>
            <a:r>
              <a:rPr lang="en-US" sz="1800" b="1" i="0" u="none" strike="noStrike" dirty="0">
                <a:solidFill>
                  <a:srgbClr val="000000"/>
                </a:solidFill>
                <a:effectLst/>
                <a:latin typeface="Arial" panose="020B0604020202020204" pitchFamily="34" charset="0"/>
                <a:cs typeface="Arial" panose="020B0604020202020204" pitchFamily="34" charset="0"/>
              </a:rPr>
              <a:t>FACULTY OF DIPLOMA STUDIES</a:t>
            </a:r>
            <a:endParaRPr lang="en-US" b="0" dirty="0">
              <a:effectLst/>
              <a:latin typeface="Arial" panose="020B0604020202020204" pitchFamily="34" charset="0"/>
              <a:cs typeface="Arial" panose="020B0604020202020204" pitchFamily="34" charset="0"/>
            </a:endParaRPr>
          </a:p>
          <a:p>
            <a:pPr algn="r" rtl="0">
              <a:spcBef>
                <a:spcPts val="1000"/>
              </a:spcBef>
              <a:buNone/>
            </a:pPr>
            <a:r>
              <a:rPr lang="en-US" sz="1800" b="1" i="0" u="none" strike="noStrike" dirty="0">
                <a:solidFill>
                  <a:srgbClr val="000000"/>
                </a:solidFill>
                <a:effectLst/>
                <a:latin typeface="Arial" panose="020B0604020202020204" pitchFamily="34" charset="0"/>
                <a:cs typeface="Arial" panose="020B0604020202020204" pitchFamily="34" charset="0"/>
              </a:rPr>
              <a:t>COMPUTER ENGINEERING DEPARTMENT</a:t>
            </a:r>
            <a:endParaRPr lang="en-US" b="0" dirty="0">
              <a:effectLst/>
              <a:latin typeface="Arial" panose="020B0604020202020204" pitchFamily="34" charset="0"/>
              <a:cs typeface="Arial" panose="020B0604020202020204" pitchFamily="34" charset="0"/>
            </a:endParaRPr>
          </a:p>
        </p:txBody>
      </p:sp>
      <p:sp>
        <p:nvSpPr>
          <p:cNvPr id="13" name="TextBox 12"/>
          <p:cNvSpPr txBox="1"/>
          <p:nvPr/>
        </p:nvSpPr>
        <p:spPr>
          <a:xfrm>
            <a:off x="0" y="4903892"/>
            <a:ext cx="3740398" cy="773430"/>
          </a:xfrm>
          <a:prstGeom prst="rect">
            <a:avLst/>
          </a:prstGeom>
          <a:noFill/>
        </p:spPr>
        <p:txBody>
          <a:bodyPr wrap="square">
            <a:spAutoFit/>
          </a:bodyPr>
          <a:lstStyle/>
          <a:p>
            <a:pPr rtl="0">
              <a:spcBef>
                <a:spcPts val="1000"/>
              </a:spcBef>
              <a:buNone/>
            </a:pPr>
            <a:r>
              <a:rPr lang="en-US" b="1" dirty="0">
                <a:solidFill>
                  <a:srgbClr val="000000"/>
                </a:solidFill>
                <a:latin typeface="Arial" panose="020B0604020202020204" pitchFamily="34" charset="0"/>
              </a:rPr>
              <a:t>SEMESTER : </a:t>
            </a:r>
            <a:r>
              <a:rPr lang="en-US" sz="1800" b="1" i="0" u="none" strike="noStrike" dirty="0">
                <a:solidFill>
                  <a:srgbClr val="000000"/>
                </a:solidFill>
                <a:effectLst/>
                <a:latin typeface="Arial" panose="020B0604020202020204" pitchFamily="34" charset="0"/>
              </a:rPr>
              <a:t> 6    </a:t>
            </a:r>
            <a:endParaRPr lang="en-US" b="0" dirty="0">
              <a:effectLst/>
            </a:endParaRPr>
          </a:p>
          <a:p>
            <a:pPr rtl="0">
              <a:spcBef>
                <a:spcPts val="1000"/>
              </a:spcBef>
              <a:buNone/>
            </a:pPr>
            <a:r>
              <a:rPr lang="en-US" sz="1800" b="1" i="0" u="none" strike="noStrike" dirty="0">
                <a:solidFill>
                  <a:srgbClr val="000000"/>
                </a:solidFill>
                <a:effectLst/>
                <a:latin typeface="Arial" panose="020B0604020202020204" pitchFamily="34" charset="0"/>
              </a:rPr>
              <a:t>Project Review - 4</a:t>
            </a:r>
            <a:endParaRPr lang="en-US" b="0" dirty="0">
              <a:effectLst/>
            </a:endParaRPr>
          </a:p>
        </p:txBody>
      </p:sp>
      <p:sp>
        <p:nvSpPr>
          <p:cNvPr id="15" name="TextBox 14"/>
          <p:cNvSpPr txBox="1"/>
          <p:nvPr/>
        </p:nvSpPr>
        <p:spPr>
          <a:xfrm>
            <a:off x="5763498" y="5538020"/>
            <a:ext cx="3848335" cy="850104"/>
          </a:xfrm>
          <a:prstGeom prst="rect">
            <a:avLst/>
          </a:prstGeom>
          <a:noFill/>
        </p:spPr>
        <p:txBody>
          <a:bodyPr wrap="square">
            <a:spAutoFit/>
          </a:bodyPr>
          <a:lstStyle/>
          <a:p>
            <a:pPr rtl="0">
              <a:spcBef>
                <a:spcPts val="1000"/>
              </a:spcBef>
              <a:buNone/>
            </a:pPr>
            <a:r>
              <a:rPr lang="en-US" sz="2000" b="1" i="0" u="none" strike="noStrike" dirty="0">
                <a:solidFill>
                  <a:srgbClr val="000000"/>
                </a:solidFill>
                <a:effectLst/>
                <a:latin typeface="Arial" panose="020B0604020202020204" pitchFamily="34" charset="0"/>
                <a:cs typeface="Arial" panose="020B0604020202020204" pitchFamily="34" charset="0"/>
              </a:rPr>
              <a:t>Guided by:</a:t>
            </a:r>
            <a:endParaRPr lang="en-US" sz="2000" b="0" dirty="0">
              <a:effectLst/>
              <a:latin typeface="Arial" panose="020B0604020202020204" pitchFamily="34" charset="0"/>
              <a:cs typeface="Arial" panose="020B0604020202020204" pitchFamily="34" charset="0"/>
            </a:endParaRPr>
          </a:p>
          <a:p>
            <a:pPr rtl="0">
              <a:spcBef>
                <a:spcPts val="1000"/>
              </a:spcBef>
              <a:buNone/>
            </a:pPr>
            <a:r>
              <a:rPr lang="en-US" sz="2000" b="0" i="0" u="none" strike="noStrike" dirty="0">
                <a:solidFill>
                  <a:srgbClr val="000000"/>
                </a:solidFill>
                <a:effectLst/>
                <a:latin typeface="Arial" panose="020B0604020202020204" pitchFamily="34" charset="0"/>
                <a:cs typeface="Arial" panose="020B0604020202020204" pitchFamily="34" charset="0"/>
              </a:rPr>
              <a:t>Prof. Kruti Rathod</a:t>
            </a:r>
            <a:endParaRPr lang="en-US" sz="2000" b="0" dirty="0">
              <a:effectLst/>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8"/>
          <p:cNvSpPr txBox="1"/>
          <p:nvPr/>
        </p:nvSpPr>
        <p:spPr>
          <a:xfrm>
            <a:off x="4916670" y="1911674"/>
            <a:ext cx="7275330" cy="2677656"/>
          </a:xfrm>
          <a:prstGeom prst="rect">
            <a:avLst/>
          </a:prstGeom>
          <a:noFill/>
        </p:spPr>
        <p:txBody>
          <a:bodyPr wrap="square">
            <a:spAutoFit/>
          </a:bodyPr>
          <a:lstStyle/>
          <a:p>
            <a:endParaRPr lang="en-US" dirty="0"/>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Abstract</a:t>
            </a:r>
            <a:endParaRPr lang="en-US" sz="22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Aim / Objectives</a:t>
            </a:r>
            <a:endParaRPr lang="en-US" sz="22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Specific Requirements(Software/Hardware)</a:t>
            </a:r>
            <a:endParaRPr lang="en-US" sz="22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System Design(Diagrams) </a:t>
            </a:r>
            <a:endParaRPr lang="en-US" sz="22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Reference and Sources</a:t>
            </a:r>
            <a:endParaRPr lang="en-US" sz="22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Summary</a:t>
            </a:r>
            <a:endParaRPr lang="en-US" sz="2200" dirty="0">
              <a:latin typeface="Arial" panose="020B0604020202020204" pitchFamily="34" charset="0"/>
              <a:cs typeface="Arial" panose="020B0604020202020204" pitchFamily="34" charset="0"/>
            </a:endParaRPr>
          </a:p>
          <a:p>
            <a:endParaRPr lang="en-US" dirty="0"/>
          </a:p>
        </p:txBody>
      </p:sp>
      <p:sp>
        <p:nvSpPr>
          <p:cNvPr id="11" name="TextBox 10"/>
          <p:cNvSpPr txBox="1"/>
          <p:nvPr/>
        </p:nvSpPr>
        <p:spPr>
          <a:xfrm>
            <a:off x="3676207" y="937069"/>
            <a:ext cx="6097772" cy="523220"/>
          </a:xfrm>
          <a:prstGeom prst="rect">
            <a:avLst/>
          </a:prstGeom>
          <a:noFill/>
        </p:spPr>
        <p:txBody>
          <a:bodyPr wrap="square">
            <a:spAutoFit/>
          </a:bodyPr>
          <a:lstStyle/>
          <a:p>
            <a:pPr algn="ctr"/>
            <a:r>
              <a:rPr lang="en-US" sz="2800" dirty="0">
                <a:latin typeface="Arial" panose="020B0604020202020204" pitchFamily="34" charset="0"/>
                <a:cs typeface="Arial" panose="020B0604020202020204" pitchFamily="34" charset="0"/>
              </a:rPr>
              <a:t>CONTENT</a:t>
            </a:r>
            <a:endParaRPr lang="en-US" sz="28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347" y="667870"/>
            <a:ext cx="10018713" cy="1752599"/>
          </a:xfrm>
        </p:spPr>
        <p:txBody>
          <a:bodyPr/>
          <a:lstStyle/>
          <a:p>
            <a:pPr algn="l"/>
            <a:r>
              <a:rPr lang="en-US" dirty="0">
                <a:latin typeface="Arial" panose="020B0604020202020204" pitchFamily="34" charset="0"/>
                <a:cs typeface="Arial" panose="020B0604020202020204" pitchFamily="34" charset="0"/>
              </a:rPr>
              <a:t>Abstract</a:t>
            </a:r>
            <a:endParaRPr lang="en-IN" dirty="0"/>
          </a:p>
        </p:txBody>
      </p:sp>
      <p:sp>
        <p:nvSpPr>
          <p:cNvPr id="3" name="Content Placeholder 2"/>
          <p:cNvSpPr>
            <a:spLocks noGrp="1"/>
          </p:cNvSpPr>
          <p:nvPr>
            <p:ph idx="1"/>
          </p:nvPr>
        </p:nvSpPr>
        <p:spPr>
          <a:xfrm>
            <a:off x="1278121" y="2209799"/>
            <a:ext cx="10018713" cy="3222813"/>
          </a:xfrm>
        </p:spPr>
        <p:txBody>
          <a:bodyPr>
            <a:normAutofit/>
          </a:bodyPr>
          <a:lstStyle/>
          <a:p>
            <a:pPr algn="just"/>
            <a:r>
              <a:rPr lang="en-US" b="1" dirty="0"/>
              <a:t>Event Ease</a:t>
            </a:r>
            <a:r>
              <a:rPr lang="en-US" dirty="0"/>
              <a:t> is a smart, web-based platform designed to simplify the entire process of event booking and management. It allows users to easily register, explore events by category, date, or popularity, and book events along with optional add-on services like food packages or pickup/car service. The system automatically calculates total charges and generates a digital ticket with a dynamic QR code for secure entry. Users also receive email notifications and can download tickets directly from their dashboard.</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1557" y="1707775"/>
            <a:ext cx="10018713" cy="3124201"/>
          </a:xfrm>
        </p:spPr>
        <p:txBody>
          <a:bodyPr/>
          <a:lstStyle/>
          <a:p>
            <a:pPr algn="just"/>
            <a:r>
              <a:rPr lang="en-US" dirty="0"/>
              <a:t>On the admin side, a secure role-based panel allows authorized staff to manage events, approve or cancel bookings, handle feedback, and update the event gallery. Users can view their booking history, payment status, and share feedback and ratings to help others. Built with HTML, CSS, JavaScript, Bootstrap, PHP, and MySQL, Event Ease offers an end-to-end digital solution for smooth, secure, and efficient event planning and management.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Arial" panose="020B0604020202020204" pitchFamily="34" charset="0"/>
                <a:cs typeface="Arial" panose="020B0604020202020204" pitchFamily="34" charset="0"/>
              </a:rPr>
              <a:t>Objectives</a:t>
            </a:r>
            <a:endParaRPr lang="en-IN" dirty="0"/>
          </a:p>
        </p:txBody>
      </p:sp>
      <p:sp>
        <p:nvSpPr>
          <p:cNvPr id="3" name="Content Placeholder 2"/>
          <p:cNvSpPr>
            <a:spLocks noGrp="1"/>
          </p:cNvSpPr>
          <p:nvPr>
            <p:ph idx="1"/>
          </p:nvPr>
        </p:nvSpPr>
        <p:spPr>
          <a:xfrm>
            <a:off x="1484310" y="2079813"/>
            <a:ext cx="10018713" cy="3711388"/>
          </a:xfrm>
        </p:spPr>
        <p:txBody>
          <a:bodyPr>
            <a:normAutofit/>
          </a:bodyPr>
          <a:lstStyle/>
          <a:p>
            <a:pPr algn="just"/>
            <a:r>
              <a:rPr lang="en-US" dirty="0"/>
              <a:t>The main objective of Event Ease is to provide a digital and user-friendly platform for smooth event booking and management. It aims to simplify the process for users by offering secure login, event browsing, and booking with optional services like food and transport.</a:t>
            </a:r>
            <a:endParaRPr lang="en-US" dirty="0"/>
          </a:p>
          <a:p>
            <a:pPr algn="just"/>
            <a:r>
              <a:rPr lang="en-US" dirty="0"/>
              <a:t>Another goal is to help administrators manage events efficiently through a secure panel. The system also focuses on automating price calculation, ticket generation with QR codes, and offering real-time notifications to ensure a seamless experience for both users and admins.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Aim</a:t>
            </a:r>
            <a:endParaRPr lang="en-IN" dirty="0"/>
          </a:p>
        </p:txBody>
      </p:sp>
      <p:sp>
        <p:nvSpPr>
          <p:cNvPr id="3" name="Content Placeholder 2"/>
          <p:cNvSpPr>
            <a:spLocks noGrp="1"/>
          </p:cNvSpPr>
          <p:nvPr>
            <p:ph idx="1"/>
          </p:nvPr>
        </p:nvSpPr>
        <p:spPr/>
        <p:txBody>
          <a:bodyPr/>
          <a:lstStyle/>
          <a:p>
            <a:r>
              <a:rPr lang="en-US" dirty="0"/>
              <a:t>The aim of the project is to develop a smart, secure, and user-friendly web-based platform that simplifies the complete process of event booking and management for both users and administrators, by providing digital solutions for registration, event browsing, booking with add-on services, automated payments, ticket generation, and system management.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138954"/>
            <a:ext cx="10018713" cy="1447799"/>
          </a:xfrm>
        </p:spPr>
        <p:txBody>
          <a:bodyPr/>
          <a:lstStyle/>
          <a:p>
            <a:pPr algn="l"/>
            <a:r>
              <a:rPr lang="en-US" dirty="0">
                <a:latin typeface="Arial" panose="020B0604020202020204" pitchFamily="34" charset="0"/>
                <a:cs typeface="Arial" panose="020B0604020202020204" pitchFamily="34" charset="0"/>
              </a:rPr>
              <a:t>Specific Requirements(Software/Hardware)</a:t>
            </a:r>
            <a:endParaRPr lang="en-IN" dirty="0"/>
          </a:p>
        </p:txBody>
      </p:sp>
      <p:sp>
        <p:nvSpPr>
          <p:cNvPr id="3" name="Content Placeholder 2"/>
          <p:cNvSpPr>
            <a:spLocks noGrp="1"/>
          </p:cNvSpPr>
          <p:nvPr>
            <p:ph idx="1"/>
          </p:nvPr>
        </p:nvSpPr>
        <p:spPr>
          <a:xfrm>
            <a:off x="1484309" y="1308847"/>
            <a:ext cx="10018713" cy="5136776"/>
          </a:xfrm>
        </p:spPr>
        <p:txBody>
          <a:bodyPr>
            <a:normAutofit lnSpcReduction="10000"/>
          </a:bodyPr>
          <a:lstStyle/>
          <a:p>
            <a:r>
              <a:rPr lang="en-IN" sz="2800" b="1" dirty="0"/>
              <a:t>Software Requirements:</a:t>
            </a:r>
            <a:endParaRPr lang="en-IN" sz="2800" b="1" dirty="0"/>
          </a:p>
          <a:p>
            <a:r>
              <a:rPr lang="en-US" b="1" dirty="0"/>
              <a:t>Operating System: </a:t>
            </a:r>
            <a:r>
              <a:rPr lang="en-US" dirty="0"/>
              <a:t>Windows 10 or higher / Linux / macOS</a:t>
            </a:r>
            <a:endParaRPr lang="en-US" dirty="0"/>
          </a:p>
          <a:p>
            <a:r>
              <a:rPr lang="en-US" b="1" dirty="0"/>
              <a:t>Web Browser: </a:t>
            </a:r>
            <a:r>
              <a:rPr lang="en-US" dirty="0"/>
              <a:t>Chrome / Firefox / Edge (latest versions)</a:t>
            </a:r>
            <a:endParaRPr lang="en-US" dirty="0"/>
          </a:p>
          <a:p>
            <a:r>
              <a:rPr lang="en-IN" b="1" dirty="0"/>
              <a:t>Web Technologies:</a:t>
            </a:r>
            <a:endParaRPr lang="en-IN" b="1" dirty="0"/>
          </a:p>
          <a:p>
            <a:pPr marL="0" indent="0">
              <a:buNone/>
            </a:pPr>
            <a:r>
              <a:rPr lang="en-IN" b="1" dirty="0"/>
              <a:t>		-</a:t>
            </a:r>
            <a:r>
              <a:rPr lang="en-IN" dirty="0"/>
              <a:t> HTML, CSS, JavaScript, Bootstrap</a:t>
            </a:r>
            <a:endParaRPr lang="en-IN" dirty="0"/>
          </a:p>
          <a:p>
            <a:pPr marL="0" indent="0">
              <a:buNone/>
            </a:pPr>
            <a:r>
              <a:rPr lang="en-IN" b="1" dirty="0"/>
              <a:t>		- </a:t>
            </a:r>
            <a:r>
              <a:rPr lang="en-IN" dirty="0"/>
              <a:t>PHP (Server-side scripting)</a:t>
            </a:r>
            <a:endParaRPr lang="en-IN" dirty="0"/>
          </a:p>
          <a:p>
            <a:pPr marL="0" indent="0">
              <a:buNone/>
            </a:pPr>
            <a:r>
              <a:rPr lang="en-IN" b="1" dirty="0"/>
              <a:t>		- </a:t>
            </a:r>
            <a:r>
              <a:rPr lang="en-IN" dirty="0"/>
              <a:t>MySQL (Database)</a:t>
            </a:r>
            <a:endParaRPr lang="en-IN" dirty="0"/>
          </a:p>
          <a:p>
            <a:pPr>
              <a:buFont typeface="Arial" panose="020B0604020202020204" pitchFamily="34" charset="0"/>
              <a:buChar char="•"/>
            </a:pPr>
            <a:r>
              <a:rPr lang="en-US" dirty="0"/>
              <a:t>XAMPP / WAMP Server (for local development)</a:t>
            </a:r>
            <a:endParaRPr lang="en-US" dirty="0"/>
          </a:p>
          <a:p>
            <a:pPr>
              <a:buFont typeface="Arial" panose="020B0604020202020204" pitchFamily="34" charset="0"/>
              <a:buChar char="•"/>
            </a:pPr>
            <a:r>
              <a:rPr lang="pt-BR" b="1" dirty="0"/>
              <a:t>Code Editor: </a:t>
            </a:r>
            <a:r>
              <a:rPr lang="pt-BR" dirty="0"/>
              <a:t>Visual Studio Code / Sublime Text</a:t>
            </a:r>
            <a:endParaRPr lang="pt-BR" dirty="0"/>
          </a:p>
          <a:p>
            <a:pPr>
              <a:buFont typeface="Arial" panose="020B0604020202020204" pitchFamily="34" charset="0"/>
              <a:buChar char="•"/>
            </a:pPr>
            <a:r>
              <a:rPr lang="en-US" dirty="0"/>
              <a:t>Email API (for sending ticket confirmations)</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609601"/>
            <a:ext cx="10018713" cy="5181600"/>
          </a:xfrm>
        </p:spPr>
        <p:txBody>
          <a:bodyPr>
            <a:normAutofit/>
          </a:bodyPr>
          <a:lstStyle/>
          <a:p>
            <a:r>
              <a:rPr lang="en-IN" sz="2800" b="1" dirty="0"/>
              <a:t>Hardware Requirements:</a:t>
            </a:r>
            <a:endParaRPr lang="en-IN" sz="2800" b="1" dirty="0"/>
          </a:p>
          <a:p>
            <a:r>
              <a:rPr lang="en-US" b="1" dirty="0"/>
              <a:t>Processor:</a:t>
            </a:r>
            <a:r>
              <a:rPr lang="en-US" dirty="0"/>
              <a:t> Intel i3 or above</a:t>
            </a:r>
            <a:endParaRPr lang="en-US" dirty="0"/>
          </a:p>
          <a:p>
            <a:r>
              <a:rPr lang="en-US" b="1" dirty="0"/>
              <a:t>RAM:</a:t>
            </a:r>
            <a:r>
              <a:rPr lang="en-US" dirty="0"/>
              <a:t> Minimum 4 GB (8 GB recommended)</a:t>
            </a:r>
            <a:endParaRPr lang="en-US" dirty="0"/>
          </a:p>
          <a:p>
            <a:r>
              <a:rPr lang="en-US" b="1" dirty="0"/>
              <a:t>Storage:</a:t>
            </a:r>
            <a:r>
              <a:rPr lang="en-US" dirty="0"/>
              <a:t> Minimum 250 MB for project files</a:t>
            </a:r>
            <a:endParaRPr lang="en-US" dirty="0"/>
          </a:p>
          <a:p>
            <a:r>
              <a:rPr lang="en-IN" dirty="0"/>
              <a:t>Internet Connection (for online access &amp; email notifications)</a:t>
            </a:r>
            <a:endParaRPr lang="en-IN" dirty="0"/>
          </a:p>
          <a:p>
            <a:r>
              <a:rPr lang="en-IN" dirty="0"/>
              <a:t>QR Code Scanner (optional, for event entry validation)</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224118"/>
            <a:ext cx="7991383" cy="658906"/>
          </a:xfrm>
        </p:spPr>
        <p:txBody>
          <a:bodyPr>
            <a:normAutofit fontScale="90000"/>
          </a:bodyPr>
          <a:lstStyle/>
          <a:p>
            <a:pPr algn="l"/>
            <a:r>
              <a:rPr lang="en-US" dirty="0">
                <a:latin typeface="Arial" panose="020B0604020202020204" pitchFamily="34" charset="0"/>
                <a:cs typeface="Arial" panose="020B0604020202020204" pitchFamily="34" charset="0"/>
              </a:rPr>
              <a:t>System Design(Diagrams)</a:t>
            </a:r>
            <a:endParaRPr lang="en-IN" dirty="0"/>
          </a:p>
        </p:txBody>
      </p:sp>
      <p:sp>
        <p:nvSpPr>
          <p:cNvPr id="3" name="Content Placeholder 2"/>
          <p:cNvSpPr>
            <a:spLocks noGrp="1"/>
          </p:cNvSpPr>
          <p:nvPr>
            <p:ph idx="1"/>
          </p:nvPr>
        </p:nvSpPr>
        <p:spPr>
          <a:xfrm>
            <a:off x="1484310" y="883024"/>
            <a:ext cx="8995431" cy="856129"/>
          </a:xfrm>
        </p:spPr>
        <p:txBody>
          <a:bodyPr>
            <a:normAutofit/>
          </a:bodyPr>
          <a:lstStyle/>
          <a:p>
            <a:r>
              <a:rPr lang="en-US" b="1" dirty="0" err="1"/>
              <a:t>Usecase</a:t>
            </a:r>
            <a:r>
              <a:rPr lang="en-US" b="1" dirty="0"/>
              <a:t> Diagram:</a:t>
            </a:r>
            <a:endParaRPr lang="en-US" dirty="0"/>
          </a:p>
          <a:p>
            <a:endParaRPr lang="en-US" b="1"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27731" y="1311088"/>
            <a:ext cx="5860943" cy="54124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2569" y="228600"/>
            <a:ext cx="7614866" cy="614082"/>
          </a:xfrm>
        </p:spPr>
        <p:txBody>
          <a:bodyPr/>
          <a:lstStyle/>
          <a:p>
            <a:r>
              <a:rPr lang="en-US" b="1" dirty="0"/>
              <a:t>Class Diagram:</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1890" y="995498"/>
            <a:ext cx="6181556" cy="56339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2239" y="273423"/>
            <a:ext cx="7955525" cy="623048"/>
          </a:xfrm>
        </p:spPr>
        <p:txBody>
          <a:bodyPr/>
          <a:lstStyle/>
          <a:p>
            <a:r>
              <a:rPr lang="en-US" b="1" dirty="0"/>
              <a:t>Activity Diagram:</a:t>
            </a:r>
            <a:endParaRPr lang="en-IN"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57115" y="273423"/>
            <a:ext cx="5356461" cy="63137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9817" y="237564"/>
            <a:ext cx="6924584" cy="667872"/>
          </a:xfrm>
        </p:spPr>
        <p:txBody>
          <a:bodyPr/>
          <a:lstStyle/>
          <a:p>
            <a:r>
              <a:rPr lang="en-US" b="1" dirty="0"/>
              <a:t>Sequence Diagram:</a:t>
            </a:r>
            <a:endParaRPr lang="en-IN"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08484" y="237563"/>
            <a:ext cx="7055736" cy="65576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4641" y="138952"/>
            <a:ext cx="6485314" cy="632013"/>
          </a:xfrm>
        </p:spPr>
        <p:txBody>
          <a:bodyPr/>
          <a:lstStyle/>
          <a:p>
            <a:r>
              <a:rPr lang="en-US" b="1" dirty="0"/>
              <a:t>ER Diagram:</a:t>
            </a:r>
            <a:endParaRPr lang="en-IN"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54641" y="640976"/>
            <a:ext cx="9760992" cy="60018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6028" y="219635"/>
            <a:ext cx="6861831" cy="524436"/>
          </a:xfrm>
        </p:spPr>
        <p:txBody>
          <a:bodyPr/>
          <a:lstStyle/>
          <a:p>
            <a:r>
              <a:rPr lang="en-US" b="1" dirty="0"/>
              <a:t>DFD Level-0 Diagram:</a:t>
            </a:r>
            <a:endParaRPr lang="en-IN"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56028" y="1514755"/>
            <a:ext cx="10425033" cy="32544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7745" y="121024"/>
            <a:ext cx="7668655" cy="569260"/>
          </a:xfrm>
        </p:spPr>
        <p:txBody>
          <a:bodyPr/>
          <a:lstStyle/>
          <a:p>
            <a:r>
              <a:rPr lang="en-US" b="1" dirty="0"/>
              <a:t>DFD Level-1 Diagram:</a:t>
            </a:r>
            <a:endParaRPr lang="en-IN"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28962" y="757237"/>
            <a:ext cx="6640601" cy="597973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573960" y="129988"/>
            <a:ext cx="7650722" cy="762000"/>
          </a:xfrm>
        </p:spPr>
        <p:txBody>
          <a:bodyPr/>
          <a:lstStyle/>
          <a:p>
            <a:r>
              <a:rPr lang="en-US" b="1" dirty="0"/>
              <a:t>DFD Level-2 Diagram:</a:t>
            </a:r>
            <a:endParaRPr lang="en-IN" b="1"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24620" y="906841"/>
            <a:ext cx="7517231" cy="569118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3605" y="201705"/>
            <a:ext cx="7937596" cy="632013"/>
          </a:xfrm>
        </p:spPr>
        <p:txBody>
          <a:bodyPr/>
          <a:lstStyle/>
          <a:p>
            <a:r>
              <a:rPr lang="en-US" b="1" dirty="0" err="1"/>
              <a:t>FlowChart</a:t>
            </a:r>
            <a:r>
              <a:rPr lang="en-US" b="1" dirty="0"/>
              <a:t>:</a:t>
            </a:r>
            <a:endParaRPr lang="en-IN"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43719" y="201705"/>
            <a:ext cx="4104562" cy="64118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228600"/>
            <a:ext cx="9578136" cy="838200"/>
          </a:xfrm>
        </p:spPr>
        <p:txBody>
          <a:bodyPr/>
          <a:lstStyle/>
          <a:p>
            <a:pPr algn="l"/>
            <a:r>
              <a:rPr lang="en-US" dirty="0">
                <a:latin typeface="Arial" panose="020B0604020202020204" pitchFamily="34" charset="0"/>
                <a:cs typeface="Arial" panose="020B0604020202020204" pitchFamily="34" charset="0"/>
              </a:rPr>
              <a:t>Reference and Sources</a:t>
            </a:r>
            <a:endParaRPr lang="en-IN" dirty="0"/>
          </a:p>
        </p:txBody>
      </p:sp>
      <p:sp>
        <p:nvSpPr>
          <p:cNvPr id="7" name="Content Placeholder 6"/>
          <p:cNvSpPr>
            <a:spLocks noGrp="1"/>
          </p:cNvSpPr>
          <p:nvPr>
            <p:ph idx="1"/>
          </p:nvPr>
        </p:nvSpPr>
        <p:spPr>
          <a:xfrm>
            <a:off x="1484310" y="1169893"/>
            <a:ext cx="10241525" cy="5275731"/>
          </a:xfrm>
        </p:spPr>
        <p:txBody>
          <a:bodyPr/>
          <a:lstStyle/>
          <a:p>
            <a:r>
              <a:rPr lang="fr-FR" dirty="0"/>
              <a:t>Official PHP Documentation – </a:t>
            </a:r>
            <a:r>
              <a:rPr lang="fr-FR" dirty="0">
                <a:hlinkClick r:id="rId1"/>
              </a:rPr>
              <a:t>https://www.php.net/docs.php</a:t>
            </a:r>
            <a:endParaRPr lang="fr-FR" dirty="0"/>
          </a:p>
          <a:p>
            <a:r>
              <a:rPr lang="en-IN" dirty="0"/>
              <a:t>MySQL Reference Manual – </a:t>
            </a:r>
            <a:r>
              <a:rPr lang="en-IN" dirty="0">
                <a:hlinkClick r:id="rId2"/>
              </a:rPr>
              <a:t>https://dev.mysql.com/doc/</a:t>
            </a:r>
            <a:endParaRPr lang="en-IN" dirty="0"/>
          </a:p>
          <a:p>
            <a:r>
              <a:rPr lang="en-US" dirty="0"/>
              <a:t>W3Schools Web Tutorials – </a:t>
            </a:r>
            <a:r>
              <a:rPr lang="en-US" dirty="0">
                <a:hlinkClick r:id="rId3"/>
              </a:rPr>
              <a:t>https://www.w3schools.com</a:t>
            </a:r>
            <a:endParaRPr lang="en-US" dirty="0"/>
          </a:p>
          <a:p>
            <a:r>
              <a:rPr lang="en-IN" dirty="0"/>
              <a:t>Bootstrap Documentation – </a:t>
            </a:r>
            <a:r>
              <a:rPr lang="en-IN" dirty="0">
                <a:hlinkClick r:id="rId4"/>
              </a:rPr>
              <a:t>https://getbootstrap.com/docs</a:t>
            </a:r>
            <a:endParaRPr lang="en-IN" dirty="0"/>
          </a:p>
          <a:p>
            <a:r>
              <a:rPr lang="en-US" dirty="0"/>
              <a:t>Stack Overflow – </a:t>
            </a:r>
            <a:r>
              <a:rPr lang="en-US" dirty="0">
                <a:hlinkClick r:id="rId5"/>
              </a:rPr>
              <a:t>https://stackoverflow.com</a:t>
            </a:r>
            <a:endParaRPr lang="en-US" dirty="0"/>
          </a:p>
          <a:p>
            <a:r>
              <a:rPr lang="en-IN" dirty="0"/>
              <a:t>Draw.io – https://app.diagrams.net (for UML diagrams)</a:t>
            </a:r>
            <a:endParaRPr lang="en-IN" dirty="0"/>
          </a:p>
          <a:p>
            <a:r>
              <a:rPr lang="en-US" sz="2800" b="1" dirty="0"/>
              <a:t>Acknowledgments: </a:t>
            </a:r>
            <a:r>
              <a:rPr lang="en-US" dirty="0"/>
              <a:t>We extend our sincere gratitude to our internal guide, </a:t>
            </a:r>
            <a:r>
              <a:rPr lang="en-US" b="1" dirty="0"/>
              <a:t>Prof. [Kruti </a:t>
            </a:r>
            <a:r>
              <a:rPr lang="en-US" b="1" dirty="0" err="1"/>
              <a:t>Raathod</a:t>
            </a:r>
            <a:r>
              <a:rPr lang="en-US" b="1" dirty="0"/>
              <a:t>], </a:t>
            </a:r>
            <a:r>
              <a:rPr lang="en-US" dirty="0"/>
              <a:t>for their invaluable guidance and support throughout this project. We also thank </a:t>
            </a:r>
            <a:r>
              <a:rPr lang="en-US" b="1" dirty="0" err="1"/>
              <a:t>Marwadi</a:t>
            </a:r>
            <a:r>
              <a:rPr lang="en-US" b="1" dirty="0"/>
              <a:t> University</a:t>
            </a:r>
            <a:r>
              <a:rPr lang="en-US" dirty="0"/>
              <a:t> for providing the necessary resources and an encouraging environment. Finally, we appreciate the unwavering support from our families and peers.</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Arial" panose="020B0604020202020204" pitchFamily="34" charset="0"/>
                <a:cs typeface="Arial" panose="020B0604020202020204" pitchFamily="34" charset="0"/>
              </a:rPr>
              <a:t>Summary</a:t>
            </a:r>
            <a:endParaRPr lang="en-IN" dirty="0"/>
          </a:p>
        </p:txBody>
      </p:sp>
      <p:sp>
        <p:nvSpPr>
          <p:cNvPr id="3" name="Content Placeholder 2"/>
          <p:cNvSpPr>
            <a:spLocks noGrp="1"/>
          </p:cNvSpPr>
          <p:nvPr>
            <p:ph idx="1"/>
          </p:nvPr>
        </p:nvSpPr>
        <p:spPr>
          <a:xfrm>
            <a:off x="1484310" y="2164976"/>
            <a:ext cx="10018713" cy="3124201"/>
          </a:xfrm>
        </p:spPr>
        <p:txBody>
          <a:bodyPr>
            <a:normAutofit fontScale="92500"/>
          </a:bodyPr>
          <a:lstStyle/>
          <a:p>
            <a:r>
              <a:rPr lang="en-US" b="1" dirty="0"/>
              <a:t>Event Ease</a:t>
            </a:r>
            <a:r>
              <a:rPr lang="en-US" dirty="0"/>
              <a:t> is a smart and user-friendly web-based platform designed to digitize and simplify the event booking and management process. It allows users to explore and book events with optional services like food and transport, while the system handles automatic price calculation and ticket generation with QR codes.</a:t>
            </a:r>
            <a:endParaRPr lang="en-US" dirty="0"/>
          </a:p>
          <a:p>
            <a:r>
              <a:rPr lang="en-US" dirty="0"/>
              <a:t>The platform offers a personal dashboard for users and a secure admin panel for event organizers. Built using HTML, CSS, JavaScript, Bootstrap, PHP, and MySQL, it provides a complete digital solution for smooth, secure, and efficient event planning and management — benefiting both users and administrators.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5598459"/>
          </a:xfrm>
        </p:spPr>
        <p:txBody>
          <a:bodyPr>
            <a:normAutofit/>
          </a:bodyPr>
          <a:lstStyle/>
          <a:p>
            <a:r>
              <a:rPr lang="en-US" sz="12500" b="1" dirty="0"/>
              <a:t>THANKYOU</a:t>
            </a:r>
            <a:endParaRPr lang="en-IN" sz="125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datastoreItem>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6F4F4D41-822D-40F2-A7AC-E4E6CB36CA7A}">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0</TotalTime>
  <Words>4383</Words>
  <Application>WPS Presentation</Application>
  <PresentationFormat>Widescreen</PresentationFormat>
  <Paragraphs>101</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SimSun</vt:lpstr>
      <vt:lpstr>Wingdings</vt:lpstr>
      <vt:lpstr>Arial</vt:lpstr>
      <vt:lpstr>Corbel</vt:lpstr>
      <vt:lpstr>Microsoft YaHei</vt:lpstr>
      <vt:lpstr>Arial Unicode MS</vt:lpstr>
      <vt:lpstr>Calibri</vt:lpstr>
      <vt:lpstr>Parallax</vt:lpstr>
      <vt:lpstr>EVENT EASE</vt:lpstr>
      <vt:lpstr>PowerPoint 演示文稿</vt:lpstr>
      <vt:lpstr>Abstract</vt:lpstr>
      <vt:lpstr>PowerPoint 演示文稿</vt:lpstr>
      <vt:lpstr>Objectives</vt:lpstr>
      <vt:lpstr>Aim</vt:lpstr>
      <vt:lpstr>Specific Requirements(Software/Hardware)</vt:lpstr>
      <vt:lpstr>PowerPoint 演示文稿</vt:lpstr>
      <vt:lpstr>System Design(Diagrams)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 and Sources</vt:lpstr>
      <vt:lpstr>Summary</vt:lpstr>
      <vt:lpstr>THANKYOU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ZEEL MEHTA</dc:creator>
  <cp:lastModifiedBy>WPS_1699680146</cp:lastModifiedBy>
  <cp:revision>4</cp:revision>
  <dcterms:created xsi:type="dcterms:W3CDTF">2025-07-28T08:57:00Z</dcterms:created>
  <dcterms:modified xsi:type="dcterms:W3CDTF">2026-01-24T03:37:51Z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F659BD7A012B4FF2859C7C135F57C149_12</vt:lpwstr>
  </property>
  <property fmtid="{D5CDD505-2E9C-101B-9397-08002B2CF9AE}" pid="4" name="KSOProductBuildVer">
    <vt:lpwstr>1033-12.2.0.23196</vt:lpwstr>
  </property>
</Properties>
</file>